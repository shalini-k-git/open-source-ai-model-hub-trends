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73" r:id="rId4"/>
    <p:sldId id="258" r:id="rId5"/>
    <p:sldId id="259" r:id="rId6"/>
    <p:sldId id="260" r:id="rId7"/>
    <p:sldId id="261" r:id="rId8"/>
    <p:sldId id="264" r:id="rId9"/>
    <p:sldId id="265" r:id="rId10"/>
    <p:sldId id="266" r:id="rId11"/>
    <p:sldId id="267" r:id="rId12"/>
    <p:sldId id="268" r:id="rId13"/>
    <p:sldId id="269" r:id="rId14"/>
    <p:sldId id="271" r:id="rId15"/>
    <p:sldId id="270" r:id="rId16"/>
    <p:sldId id="272" r:id="rId17"/>
    <p:sldId id="262" r:id="rId18"/>
    <p:sldId id="26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EE45BAA5-097F-4B8C-9AF3-D881A519F531}" type="datetimeFigureOut">
              <a:rPr lang="en-IN" smtClean="0"/>
              <a:t>27-02-2026</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B7451F30-C080-479C-B1AE-B75CC6004E26}" type="slidenum">
              <a:rPr lang="en-IN" smtClean="0"/>
              <a:t>‹#›</a:t>
            </a:fld>
            <a:endParaRPr lang="en-IN"/>
          </a:p>
        </p:txBody>
      </p:sp>
    </p:spTree>
    <p:extLst>
      <p:ext uri="{BB962C8B-B14F-4D97-AF65-F5344CB8AC3E}">
        <p14:creationId xmlns:p14="http://schemas.microsoft.com/office/powerpoint/2010/main" val="1200101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45BAA5-097F-4B8C-9AF3-D881A519F531}"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B7451F30-C080-479C-B1AE-B75CC6004E26}" type="slidenum">
              <a:rPr lang="en-IN" smtClean="0"/>
              <a:t>‹#›</a:t>
            </a:fld>
            <a:endParaRPr lang="en-IN"/>
          </a:p>
        </p:txBody>
      </p:sp>
    </p:spTree>
    <p:extLst>
      <p:ext uri="{BB962C8B-B14F-4D97-AF65-F5344CB8AC3E}">
        <p14:creationId xmlns:p14="http://schemas.microsoft.com/office/powerpoint/2010/main" val="22160344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EE45BAA5-097F-4B8C-9AF3-D881A519F531}" type="datetimeFigureOut">
              <a:rPr lang="en-IN" smtClean="0"/>
              <a:t>27-02-2026</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B7451F30-C080-479C-B1AE-B75CC6004E26}" type="slidenum">
              <a:rPr lang="en-IN" smtClean="0"/>
              <a:t>‹#›</a:t>
            </a:fld>
            <a:endParaRPr lang="en-IN"/>
          </a:p>
        </p:txBody>
      </p:sp>
    </p:spTree>
    <p:extLst>
      <p:ext uri="{BB962C8B-B14F-4D97-AF65-F5344CB8AC3E}">
        <p14:creationId xmlns:p14="http://schemas.microsoft.com/office/powerpoint/2010/main" val="4190159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45BAA5-097F-4B8C-9AF3-D881A519F531}" type="datetimeFigureOut">
              <a:rPr lang="en-IN" smtClean="0"/>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7451F30-C080-479C-B1AE-B75CC6004E26}" type="slidenum">
              <a:rPr lang="en-IN" smtClean="0"/>
              <a:t>‹#›</a:t>
            </a:fld>
            <a:endParaRPr lang="en-IN"/>
          </a:p>
        </p:txBody>
      </p:sp>
    </p:spTree>
    <p:extLst>
      <p:ext uri="{BB962C8B-B14F-4D97-AF65-F5344CB8AC3E}">
        <p14:creationId xmlns:p14="http://schemas.microsoft.com/office/powerpoint/2010/main" val="459283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45BAA5-097F-4B8C-9AF3-D881A519F531}" type="datetimeFigureOut">
              <a:rPr lang="en-IN" smtClean="0"/>
              <a:t>27-02-2026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7451F30-C080-479C-B1AE-B75CC6004E26}" type="slidenum">
              <a:rPr lang="en-IN" smtClean="0"/>
              <a:t>‹#›</a:t>
            </a:fld>
            <a:endParaRPr lang="en-IN"/>
          </a:p>
        </p:txBody>
      </p:sp>
    </p:spTree>
    <p:extLst>
      <p:ext uri="{BB962C8B-B14F-4D97-AF65-F5344CB8AC3E}">
        <p14:creationId xmlns:p14="http://schemas.microsoft.com/office/powerpoint/2010/main" val="740803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45BAA5-097F-4B8C-9AF3-D881A519F531}" type="datetimeFigureOut">
              <a:rPr lang="en-IN" smtClean="0"/>
              <a:t>27-02-2026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7451F30-C080-479C-B1AE-B75CC6004E26}" type="slidenum">
              <a:rPr lang="en-IN" smtClean="0"/>
              <a:t>‹#›</a:t>
            </a:fld>
            <a:endParaRPr lang="en-IN"/>
          </a:p>
        </p:txBody>
      </p:sp>
    </p:spTree>
    <p:extLst>
      <p:ext uri="{BB962C8B-B14F-4D97-AF65-F5344CB8AC3E}">
        <p14:creationId xmlns:p14="http://schemas.microsoft.com/office/powerpoint/2010/main" val="1937750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45BAA5-097F-4B8C-9AF3-D881A519F531}" type="datetimeFigureOut">
              <a:rPr lang="en-IN" smtClean="0"/>
              <a:t>27-02-2026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7451F30-C080-479C-B1AE-B75CC6004E26}" type="slidenum">
              <a:rPr lang="en-IN" smtClean="0"/>
              <a:t>‹#›</a:t>
            </a:fld>
            <a:endParaRPr lang="en-IN"/>
          </a:p>
        </p:txBody>
      </p:sp>
    </p:spTree>
    <p:extLst>
      <p:ext uri="{BB962C8B-B14F-4D97-AF65-F5344CB8AC3E}">
        <p14:creationId xmlns:p14="http://schemas.microsoft.com/office/powerpoint/2010/main" val="2342423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EE45BAA5-097F-4B8C-9AF3-D881A519F531}" type="datetimeFigureOut">
              <a:rPr lang="en-IN" smtClean="0"/>
              <a:t>27-02-2026</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B7451F30-C080-479C-B1AE-B75CC6004E26}" type="slidenum">
              <a:rPr lang="en-IN" smtClean="0"/>
              <a:t>‹#›</a:t>
            </a:fld>
            <a:endParaRPr lang="en-IN"/>
          </a:p>
        </p:txBody>
      </p:sp>
    </p:spTree>
    <p:extLst>
      <p:ext uri="{BB962C8B-B14F-4D97-AF65-F5344CB8AC3E}">
        <p14:creationId xmlns:p14="http://schemas.microsoft.com/office/powerpoint/2010/main" val="1999905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45BAA5-097F-4B8C-9AF3-D881A519F531}" type="datetimeFigureOut">
              <a:rPr lang="en-IN" smtClean="0"/>
              <a:t>27-02-2026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7451F30-C080-479C-B1AE-B75CC6004E26}" type="slidenum">
              <a:rPr lang="en-IN" smtClean="0"/>
              <a:t>‹#›</a:t>
            </a:fld>
            <a:endParaRPr lang="en-IN"/>
          </a:p>
        </p:txBody>
      </p:sp>
    </p:spTree>
    <p:extLst>
      <p:ext uri="{BB962C8B-B14F-4D97-AF65-F5344CB8AC3E}">
        <p14:creationId xmlns:p14="http://schemas.microsoft.com/office/powerpoint/2010/main" val="196326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45BAA5-097F-4B8C-9AF3-D881A519F531}" type="datetimeFigureOut">
              <a:rPr lang="en-IN" smtClean="0"/>
              <a:t>27-02-2026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7451F30-C080-479C-B1AE-B75CC6004E26}" type="slidenum">
              <a:rPr lang="en-IN" smtClean="0"/>
              <a:t>‹#›</a:t>
            </a:fld>
            <a:endParaRPr lang="en-IN"/>
          </a:p>
        </p:txBody>
      </p:sp>
    </p:spTree>
    <p:extLst>
      <p:ext uri="{BB962C8B-B14F-4D97-AF65-F5344CB8AC3E}">
        <p14:creationId xmlns:p14="http://schemas.microsoft.com/office/powerpoint/2010/main" val="4020954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EE45BAA5-097F-4B8C-9AF3-D881A519F531}" type="datetimeFigureOut">
              <a:rPr lang="en-IN" smtClean="0"/>
              <a:t>27-02-2026</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B7451F30-C080-479C-B1AE-B75CC6004E26}" type="slidenum">
              <a:rPr lang="en-IN" smtClean="0"/>
              <a:t>‹#›</a:t>
            </a:fld>
            <a:endParaRPr lang="en-IN"/>
          </a:p>
        </p:txBody>
      </p:sp>
    </p:spTree>
    <p:extLst>
      <p:ext uri="{BB962C8B-B14F-4D97-AF65-F5344CB8AC3E}">
        <p14:creationId xmlns:p14="http://schemas.microsoft.com/office/powerpoint/2010/main" val="1109343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EE45BAA5-097F-4B8C-9AF3-D881A519F531}" type="datetimeFigureOut">
              <a:rPr lang="en-IN" smtClean="0"/>
              <a:t>27-02-2026</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B7451F30-C080-479C-B1AE-B75CC6004E26}" type="slidenum">
              <a:rPr lang="en-IN" smtClean="0"/>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48107718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0632E-DB2D-4C75-27A1-EFC7F67E9B9B}"/>
              </a:ext>
            </a:extLst>
          </p:cNvPr>
          <p:cNvSpPr>
            <a:spLocks noGrp="1"/>
          </p:cNvSpPr>
          <p:nvPr>
            <p:ph type="ctrTitle"/>
          </p:nvPr>
        </p:nvSpPr>
        <p:spPr/>
        <p:txBody>
          <a:bodyPr/>
          <a:lstStyle/>
          <a:p>
            <a:r>
              <a:rPr lang="en-IN" dirty="0"/>
              <a:t>TRENDS IN OPEN SOURCE AI MODELS (2025-2026)</a:t>
            </a:r>
          </a:p>
        </p:txBody>
      </p:sp>
      <p:sp>
        <p:nvSpPr>
          <p:cNvPr id="3" name="Subtitle 2">
            <a:extLst>
              <a:ext uri="{FF2B5EF4-FFF2-40B4-BE49-F238E27FC236}">
                <a16:creationId xmlns:a16="http://schemas.microsoft.com/office/drawing/2014/main" id="{D77141AD-4A76-D77A-DD1D-8AD5F265FBE5}"/>
              </a:ext>
            </a:extLst>
          </p:cNvPr>
          <p:cNvSpPr>
            <a:spLocks noGrp="1"/>
          </p:cNvSpPr>
          <p:nvPr>
            <p:ph type="subTitle" idx="1"/>
          </p:nvPr>
        </p:nvSpPr>
        <p:spPr/>
        <p:txBody>
          <a:bodyPr/>
          <a:lstStyle/>
          <a:p>
            <a:r>
              <a:rPr lang="en-IN" dirty="0"/>
              <a:t>HUGGING FACE</a:t>
            </a:r>
          </a:p>
        </p:txBody>
      </p:sp>
    </p:spTree>
    <p:extLst>
      <p:ext uri="{BB962C8B-B14F-4D97-AF65-F5344CB8AC3E}">
        <p14:creationId xmlns:p14="http://schemas.microsoft.com/office/powerpoint/2010/main" val="34778554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7F5FA-938D-4E40-8523-E2499F4612E6}"/>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4D2DCF0A-AE9D-EBD8-5F58-61FFF5E5AAF2}"/>
              </a:ext>
            </a:extLst>
          </p:cNvPr>
          <p:cNvSpPr>
            <a:spLocks noGrp="1"/>
          </p:cNvSpPr>
          <p:nvPr>
            <p:ph idx="1"/>
          </p:nvPr>
        </p:nvSpPr>
        <p:spPr>
          <a:xfrm>
            <a:off x="581193" y="2121503"/>
            <a:ext cx="7205955" cy="3678303"/>
          </a:xfrm>
        </p:spPr>
        <p:txBody>
          <a:bodyPr/>
          <a:lstStyle/>
          <a:p>
            <a:r>
              <a:rPr lang="en-US" dirty="0"/>
              <a:t>Hugging Face is an open-source AI platform that hosts and distributes machine learning models, datasets, and tools for developers, researchers, and organizations worldwide.</a:t>
            </a:r>
          </a:p>
          <a:p>
            <a:r>
              <a:rPr lang="en-US" dirty="0"/>
              <a:t>The dataset used in this analysis was collected from publicly available model metadata on the Hugging Face platform. It combines cross-sectional and time-series analysis to understand what drives model popularity, growth momentum, and sustained adoption. </a:t>
            </a:r>
            <a:endParaRPr lang="en-IN" dirty="0"/>
          </a:p>
        </p:txBody>
      </p:sp>
      <p:pic>
        <p:nvPicPr>
          <p:cNvPr id="5" name="Picture 4">
            <a:extLst>
              <a:ext uri="{FF2B5EF4-FFF2-40B4-BE49-F238E27FC236}">
                <a16:creationId xmlns:a16="http://schemas.microsoft.com/office/drawing/2014/main" id="{6D5AFECC-4E0E-AA01-6B2D-0CD2510620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9702" y="2335483"/>
            <a:ext cx="3544208" cy="3544208"/>
          </a:xfrm>
          <a:prstGeom prst="rect">
            <a:avLst/>
          </a:prstGeom>
        </p:spPr>
      </p:pic>
    </p:spTree>
    <p:extLst>
      <p:ext uri="{BB962C8B-B14F-4D97-AF65-F5344CB8AC3E}">
        <p14:creationId xmlns:p14="http://schemas.microsoft.com/office/powerpoint/2010/main" val="2565974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E77EE-9E3E-E552-0723-FC6414228AA5}"/>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8A67CB77-0871-34DF-CAE3-3129A31E9F9D}"/>
              </a:ext>
            </a:extLst>
          </p:cNvPr>
          <p:cNvSpPr>
            <a:spLocks noGrp="1"/>
          </p:cNvSpPr>
          <p:nvPr>
            <p:ph idx="1"/>
          </p:nvPr>
        </p:nvSpPr>
        <p:spPr/>
        <p:txBody>
          <a:bodyPr/>
          <a:lstStyle/>
          <a:p>
            <a:r>
              <a:rPr lang="en-US" dirty="0"/>
              <a:t>The AI model ecosystem is growing rapidly, but adoption is highly uneven. This project aims to analyze 550 Hugging Face models to understand what drives download growth, whether the ecosystem follows a winner-takes-all pattern, and how factors like organization type, country, modality, and growth stage influence model performance over time.</a:t>
            </a:r>
          </a:p>
          <a:p>
            <a:r>
              <a:rPr lang="en-US" dirty="0"/>
              <a:t>By examining organizational influence, geographic impact, modality trends, and lifecycle dynamics, the study uncovers structural patterns behind model success. The goal is to provide data-driven insights into how AI models scale, compete, and dominate in a rapidly expanding open-source landscape.</a:t>
            </a:r>
            <a:endParaRPr lang="en-IN" dirty="0"/>
          </a:p>
        </p:txBody>
      </p:sp>
    </p:spTree>
    <p:extLst>
      <p:ext uri="{BB962C8B-B14F-4D97-AF65-F5344CB8AC3E}">
        <p14:creationId xmlns:p14="http://schemas.microsoft.com/office/powerpoint/2010/main" val="2160890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77DCC-FCEF-76D2-1B76-3186C49514BA}"/>
              </a:ext>
            </a:extLst>
          </p:cNvPr>
          <p:cNvSpPr>
            <a:spLocks noGrp="1"/>
          </p:cNvSpPr>
          <p:nvPr>
            <p:ph type="title"/>
          </p:nvPr>
        </p:nvSpPr>
        <p:spPr/>
        <p:txBody>
          <a:bodyPr/>
          <a:lstStyle/>
          <a:p>
            <a:r>
              <a:rPr lang="en-IN" dirty="0"/>
              <a:t>DATASET BREAKDOWN</a:t>
            </a:r>
          </a:p>
        </p:txBody>
      </p:sp>
      <p:sp>
        <p:nvSpPr>
          <p:cNvPr id="3" name="Content Placeholder 2">
            <a:extLst>
              <a:ext uri="{FF2B5EF4-FFF2-40B4-BE49-F238E27FC236}">
                <a16:creationId xmlns:a16="http://schemas.microsoft.com/office/drawing/2014/main" id="{394027CA-2F08-0FC4-E1B7-10BD7A5A3489}"/>
              </a:ext>
            </a:extLst>
          </p:cNvPr>
          <p:cNvSpPr>
            <a:spLocks noGrp="1"/>
          </p:cNvSpPr>
          <p:nvPr>
            <p:ph idx="1"/>
          </p:nvPr>
        </p:nvSpPr>
        <p:spPr/>
        <p:txBody>
          <a:bodyPr/>
          <a:lstStyle/>
          <a:p>
            <a:r>
              <a:rPr lang="en-US" dirty="0"/>
              <a:t>The dataset was sourced from the Hugging Face open-source</a:t>
            </a:r>
          </a:p>
          <a:p>
            <a:pPr marL="0" indent="0">
              <a:buNone/>
            </a:pPr>
            <a:r>
              <a:rPr lang="en-US" dirty="0"/>
              <a:t>     model ecosystem and contains:</a:t>
            </a:r>
          </a:p>
          <a:p>
            <a:r>
              <a:rPr lang="en-IN" dirty="0"/>
              <a:t>It includes:</a:t>
            </a:r>
          </a:p>
          <a:p>
            <a:pPr lvl="1">
              <a:buFont typeface="Arial" panose="020B0604020202020204" pitchFamily="34" charset="0"/>
              <a:buChar char="•"/>
            </a:pPr>
            <a:r>
              <a:rPr lang="en-IN" dirty="0"/>
              <a:t>Model metadata (author, organization type, country)</a:t>
            </a:r>
          </a:p>
          <a:p>
            <a:pPr lvl="1">
              <a:buFont typeface="Arial" panose="020B0604020202020204" pitchFamily="34" charset="0"/>
              <a:buChar char="•"/>
            </a:pPr>
            <a:r>
              <a:rPr lang="en-IN" dirty="0"/>
              <a:t>Popularity metrics (total downloads, annotators)</a:t>
            </a:r>
          </a:p>
          <a:p>
            <a:pPr lvl="1">
              <a:buFont typeface="Arial" panose="020B0604020202020204" pitchFamily="34" charset="0"/>
              <a:buChar char="•"/>
            </a:pPr>
            <a:r>
              <a:rPr lang="en-IN" dirty="0"/>
              <a:t>Modality and language information</a:t>
            </a:r>
          </a:p>
          <a:p>
            <a:pPr lvl="1">
              <a:buFont typeface="Arial" panose="020B0604020202020204" pitchFamily="34" charset="0"/>
              <a:buChar char="•"/>
            </a:pPr>
            <a:r>
              <a:rPr lang="en-IN" dirty="0"/>
              <a:t>Model lineage (derived from base models)</a:t>
            </a:r>
          </a:p>
          <a:p>
            <a:pPr lvl="1">
              <a:buFont typeface="Arial" panose="020B0604020202020204" pitchFamily="34" charset="0"/>
              <a:buChar char="•"/>
            </a:pPr>
            <a:r>
              <a:rPr lang="en-IN" dirty="0"/>
              <a:t>Time-series growth metrics (weekly growth, age stage)</a:t>
            </a:r>
          </a:p>
          <a:p>
            <a:endParaRPr lang="en-IN" dirty="0"/>
          </a:p>
        </p:txBody>
      </p:sp>
      <p:pic>
        <p:nvPicPr>
          <p:cNvPr id="15" name="Picture 14">
            <a:extLst>
              <a:ext uri="{FF2B5EF4-FFF2-40B4-BE49-F238E27FC236}">
                <a16:creationId xmlns:a16="http://schemas.microsoft.com/office/drawing/2014/main" id="{8AC73EC9-4D38-E188-328C-D914935260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4258" y="2180496"/>
            <a:ext cx="4826549" cy="3840409"/>
          </a:xfrm>
          <a:prstGeom prst="rect">
            <a:avLst/>
          </a:prstGeom>
        </p:spPr>
      </p:pic>
    </p:spTree>
    <p:extLst>
      <p:ext uri="{BB962C8B-B14F-4D97-AF65-F5344CB8AC3E}">
        <p14:creationId xmlns:p14="http://schemas.microsoft.com/office/powerpoint/2010/main" val="2626569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A3D11-861B-1F4E-249C-C3312C7750C3}"/>
              </a:ext>
            </a:extLst>
          </p:cNvPr>
          <p:cNvSpPr>
            <a:spLocks noGrp="1"/>
          </p:cNvSpPr>
          <p:nvPr>
            <p:ph type="title"/>
          </p:nvPr>
        </p:nvSpPr>
        <p:spPr/>
        <p:txBody>
          <a:bodyPr/>
          <a:lstStyle/>
          <a:p>
            <a:r>
              <a:rPr lang="en-IN" dirty="0"/>
              <a:t>DATASET BREAKDOWN</a:t>
            </a:r>
          </a:p>
        </p:txBody>
      </p:sp>
      <p:pic>
        <p:nvPicPr>
          <p:cNvPr id="5" name="Content Placeholder 4">
            <a:extLst>
              <a:ext uri="{FF2B5EF4-FFF2-40B4-BE49-F238E27FC236}">
                <a16:creationId xmlns:a16="http://schemas.microsoft.com/office/drawing/2014/main" id="{89DD3A8E-26D9-61D6-4902-14500EED18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38168" y="2194420"/>
            <a:ext cx="5760614" cy="3707136"/>
          </a:xfrm>
        </p:spPr>
      </p:pic>
    </p:spTree>
    <p:extLst>
      <p:ext uri="{BB962C8B-B14F-4D97-AF65-F5344CB8AC3E}">
        <p14:creationId xmlns:p14="http://schemas.microsoft.com/office/powerpoint/2010/main" val="1786224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7884C-3935-CD9C-1DDC-1D55A21ABF63}"/>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B1575793-0DF0-8520-515F-3700B230434E}"/>
              </a:ext>
            </a:extLst>
          </p:cNvPr>
          <p:cNvSpPr>
            <a:spLocks noGrp="1"/>
          </p:cNvSpPr>
          <p:nvPr>
            <p:ph idx="1"/>
          </p:nvPr>
        </p:nvSpPr>
        <p:spPr/>
        <p:txBody>
          <a:bodyPr>
            <a:normAutofit fontScale="92500" lnSpcReduction="20000"/>
          </a:bodyPr>
          <a:lstStyle/>
          <a:p>
            <a:r>
              <a:rPr lang="en-US" dirty="0"/>
              <a:t>Analyze AI model adoption trends using download metrics to identify the most popular and fast-growing models.</a:t>
            </a:r>
          </a:p>
          <a:p>
            <a:endParaRPr lang="en-US" dirty="0"/>
          </a:p>
          <a:p>
            <a:r>
              <a:rPr lang="en-US" dirty="0"/>
              <a:t>Examine the geographic distribution of AI model development across countries and organizations.</a:t>
            </a:r>
          </a:p>
          <a:p>
            <a:endParaRPr lang="en-US" dirty="0"/>
          </a:p>
          <a:p>
            <a:r>
              <a:rPr lang="en-US" dirty="0"/>
              <a:t>Compare model modalities (Text, Image, Audio, Video, Multimodal) and study their usage patterns.</a:t>
            </a:r>
          </a:p>
          <a:p>
            <a:endParaRPr lang="en-US" dirty="0"/>
          </a:p>
          <a:p>
            <a:r>
              <a:rPr lang="en-US" dirty="0"/>
              <a:t>Identify the role of contributor types (users, teams, companies, free/community) in AI model creation.</a:t>
            </a:r>
          </a:p>
          <a:p>
            <a:endParaRPr lang="en-US" dirty="0"/>
          </a:p>
          <a:p>
            <a:r>
              <a:rPr lang="en-US" dirty="0"/>
              <a:t>Investigate model lineage and derivation, understanding how base models are reused or fine-tuned.</a:t>
            </a:r>
          </a:p>
          <a:p>
            <a:endParaRPr lang="en-US" dirty="0"/>
          </a:p>
          <a:p>
            <a:r>
              <a:rPr lang="en-US" dirty="0"/>
              <a:t>Perform time-based analysis to observe model release patterns and ecosystem growth over time.</a:t>
            </a:r>
            <a:endParaRPr lang="en-IN" dirty="0"/>
          </a:p>
        </p:txBody>
      </p:sp>
    </p:spTree>
    <p:extLst>
      <p:ext uri="{BB962C8B-B14F-4D97-AF65-F5344CB8AC3E}">
        <p14:creationId xmlns:p14="http://schemas.microsoft.com/office/powerpoint/2010/main" val="31474815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955C4-18F6-5DF4-4BD6-8AB96260FDB6}"/>
              </a:ext>
            </a:extLst>
          </p:cNvPr>
          <p:cNvSpPr>
            <a:spLocks noGrp="1"/>
          </p:cNvSpPr>
          <p:nvPr>
            <p:ph type="title"/>
          </p:nvPr>
        </p:nvSpPr>
        <p:spPr/>
        <p:txBody>
          <a:bodyPr/>
          <a:lstStyle/>
          <a:p>
            <a:r>
              <a:rPr lang="en-IN" dirty="0"/>
              <a:t>KEY FINDINGS</a:t>
            </a:r>
          </a:p>
        </p:txBody>
      </p:sp>
      <p:sp>
        <p:nvSpPr>
          <p:cNvPr id="3" name="Content Placeholder 2">
            <a:extLst>
              <a:ext uri="{FF2B5EF4-FFF2-40B4-BE49-F238E27FC236}">
                <a16:creationId xmlns:a16="http://schemas.microsoft.com/office/drawing/2014/main" id="{83AA0ED5-A1EA-5BC3-34DD-36F713E817CE}"/>
              </a:ext>
            </a:extLst>
          </p:cNvPr>
          <p:cNvSpPr>
            <a:spLocks noGrp="1"/>
          </p:cNvSpPr>
          <p:nvPr>
            <p:ph idx="1"/>
          </p:nvPr>
        </p:nvSpPr>
        <p:spPr>
          <a:xfrm>
            <a:off x="581192" y="1641988"/>
            <a:ext cx="11029615" cy="4216812"/>
          </a:xfrm>
        </p:spPr>
        <p:txBody>
          <a:bodyPr/>
          <a:lstStyle/>
          <a:p>
            <a:r>
              <a:rPr lang="en-IN" dirty="0"/>
              <a:t>Downloads are extremely right-skewed → winner-takes-all ecosystem.</a:t>
            </a:r>
          </a:p>
          <a:p>
            <a:endParaRPr lang="en-IN" dirty="0"/>
          </a:p>
          <a:p>
            <a:endParaRPr lang="en-IN" dirty="0"/>
          </a:p>
          <a:p>
            <a:endParaRPr lang="en-IN" dirty="0"/>
          </a:p>
          <a:p>
            <a:endParaRPr lang="en-IN" dirty="0"/>
          </a:p>
          <a:p>
            <a:endParaRPr lang="en-IN" dirty="0"/>
          </a:p>
          <a:p>
            <a:endParaRPr lang="en-IN" dirty="0"/>
          </a:p>
          <a:p>
            <a:pPr marL="0" indent="0">
              <a:buNone/>
            </a:pPr>
            <a:endParaRPr lang="en-IN" dirty="0"/>
          </a:p>
        </p:txBody>
      </p:sp>
      <p:pic>
        <p:nvPicPr>
          <p:cNvPr id="6" name="Picture 5">
            <a:extLst>
              <a:ext uri="{FF2B5EF4-FFF2-40B4-BE49-F238E27FC236}">
                <a16:creationId xmlns:a16="http://schemas.microsoft.com/office/drawing/2014/main" id="{227AFA13-787C-32CF-C876-40F214CAB0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95448" y="2655788"/>
            <a:ext cx="5221234" cy="3959360"/>
          </a:xfrm>
          <a:prstGeom prst="rect">
            <a:avLst/>
          </a:prstGeom>
        </p:spPr>
      </p:pic>
    </p:spTree>
    <p:extLst>
      <p:ext uri="{BB962C8B-B14F-4D97-AF65-F5344CB8AC3E}">
        <p14:creationId xmlns:p14="http://schemas.microsoft.com/office/powerpoint/2010/main" val="21891229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7F64E-7964-8AB2-1E12-1339059DA4EB}"/>
              </a:ext>
            </a:extLst>
          </p:cNvPr>
          <p:cNvSpPr>
            <a:spLocks noGrp="1"/>
          </p:cNvSpPr>
          <p:nvPr>
            <p:ph type="title"/>
          </p:nvPr>
        </p:nvSpPr>
        <p:spPr/>
        <p:txBody>
          <a:bodyPr/>
          <a:lstStyle/>
          <a:p>
            <a:r>
              <a:rPr lang="en-IN" dirty="0"/>
              <a:t>Organization impact</a:t>
            </a:r>
          </a:p>
        </p:txBody>
      </p:sp>
      <p:sp>
        <p:nvSpPr>
          <p:cNvPr id="3" name="Content Placeholder 2">
            <a:extLst>
              <a:ext uri="{FF2B5EF4-FFF2-40B4-BE49-F238E27FC236}">
                <a16:creationId xmlns:a16="http://schemas.microsoft.com/office/drawing/2014/main" id="{A9AA8DFE-0F42-041F-5DA8-7FAD33636A7B}"/>
              </a:ext>
            </a:extLst>
          </p:cNvPr>
          <p:cNvSpPr>
            <a:spLocks noGrp="1"/>
          </p:cNvSpPr>
          <p:nvPr>
            <p:ph idx="1"/>
          </p:nvPr>
        </p:nvSpPr>
        <p:spPr/>
        <p:txBody>
          <a:bodyPr/>
          <a:lstStyle/>
          <a:p>
            <a:r>
              <a:rPr lang="en-IN" dirty="0"/>
              <a:t>Company-developed models achieve higher median and extreme downloads.</a:t>
            </a:r>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pic>
        <p:nvPicPr>
          <p:cNvPr id="5" name="Picture 4">
            <a:extLst>
              <a:ext uri="{FF2B5EF4-FFF2-40B4-BE49-F238E27FC236}">
                <a16:creationId xmlns:a16="http://schemas.microsoft.com/office/drawing/2014/main" id="{DF869DCA-25F4-C3BC-6944-5751FA371E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1271" y="2629137"/>
            <a:ext cx="5892626" cy="4008009"/>
          </a:xfrm>
          <a:prstGeom prst="rect">
            <a:avLst/>
          </a:prstGeom>
        </p:spPr>
      </p:pic>
    </p:spTree>
    <p:extLst>
      <p:ext uri="{BB962C8B-B14F-4D97-AF65-F5344CB8AC3E}">
        <p14:creationId xmlns:p14="http://schemas.microsoft.com/office/powerpoint/2010/main" val="1224511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7752C-360A-B699-4947-391F05B23CC4}"/>
              </a:ext>
            </a:extLst>
          </p:cNvPr>
          <p:cNvSpPr>
            <a:spLocks noGrp="1"/>
          </p:cNvSpPr>
          <p:nvPr>
            <p:ph type="title"/>
          </p:nvPr>
        </p:nvSpPr>
        <p:spPr/>
        <p:txBody>
          <a:bodyPr/>
          <a:lstStyle/>
          <a:p>
            <a:r>
              <a:rPr lang="en-IN" dirty="0"/>
              <a:t>Geographical Impact</a:t>
            </a:r>
          </a:p>
        </p:txBody>
      </p:sp>
      <p:sp>
        <p:nvSpPr>
          <p:cNvPr id="3" name="Content Placeholder 2">
            <a:extLst>
              <a:ext uri="{FF2B5EF4-FFF2-40B4-BE49-F238E27FC236}">
                <a16:creationId xmlns:a16="http://schemas.microsoft.com/office/drawing/2014/main" id="{234BFC0C-9B6C-2750-B99A-A51507BA5712}"/>
              </a:ext>
            </a:extLst>
          </p:cNvPr>
          <p:cNvSpPr>
            <a:spLocks noGrp="1"/>
          </p:cNvSpPr>
          <p:nvPr>
            <p:ph idx="1"/>
          </p:nvPr>
        </p:nvSpPr>
        <p:spPr/>
        <p:txBody>
          <a:bodyPr/>
          <a:lstStyle/>
          <a:p>
            <a:r>
              <a:rPr lang="en-IN" dirty="0"/>
              <a:t>China, followed by Germany and a few countries dominate average performance of the models.</a:t>
            </a:r>
          </a:p>
          <a:p>
            <a:endParaRPr lang="en-IN" dirty="0"/>
          </a:p>
          <a:p>
            <a:endParaRPr lang="en-IN" dirty="0"/>
          </a:p>
          <a:p>
            <a:endParaRPr lang="en-IN" dirty="0"/>
          </a:p>
          <a:p>
            <a:endParaRPr lang="en-IN" dirty="0"/>
          </a:p>
          <a:p>
            <a:endParaRPr lang="en-IN" dirty="0"/>
          </a:p>
          <a:p>
            <a:endParaRPr lang="en-IN" dirty="0"/>
          </a:p>
          <a:p>
            <a:pPr marL="0" indent="0">
              <a:buNone/>
            </a:pPr>
            <a:r>
              <a:rPr lang="en-IN" dirty="0"/>
              <a:t>.</a:t>
            </a:r>
          </a:p>
          <a:p>
            <a:endParaRPr lang="en-IN" dirty="0"/>
          </a:p>
        </p:txBody>
      </p:sp>
      <p:pic>
        <p:nvPicPr>
          <p:cNvPr id="5" name="Picture 4">
            <a:extLst>
              <a:ext uri="{FF2B5EF4-FFF2-40B4-BE49-F238E27FC236}">
                <a16:creationId xmlns:a16="http://schemas.microsoft.com/office/drawing/2014/main" id="{125F0D60-C290-3D6C-BE27-8DCC09600D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760" y="2715979"/>
            <a:ext cx="10461523" cy="3837188"/>
          </a:xfrm>
          <a:prstGeom prst="rect">
            <a:avLst/>
          </a:prstGeom>
        </p:spPr>
      </p:pic>
    </p:spTree>
    <p:extLst>
      <p:ext uri="{BB962C8B-B14F-4D97-AF65-F5344CB8AC3E}">
        <p14:creationId xmlns:p14="http://schemas.microsoft.com/office/powerpoint/2010/main" val="3885317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4E9D8-2D30-9E3B-E267-8785F1C9FBCE}"/>
              </a:ext>
            </a:extLst>
          </p:cNvPr>
          <p:cNvSpPr>
            <a:spLocks noGrp="1"/>
          </p:cNvSpPr>
          <p:nvPr>
            <p:ph type="title"/>
          </p:nvPr>
        </p:nvSpPr>
        <p:spPr/>
        <p:txBody>
          <a:bodyPr/>
          <a:lstStyle/>
          <a:p>
            <a:r>
              <a:rPr lang="en-IN" dirty="0"/>
              <a:t>MODALITY IMPACT</a:t>
            </a:r>
          </a:p>
        </p:txBody>
      </p:sp>
      <p:sp>
        <p:nvSpPr>
          <p:cNvPr id="3" name="Content Placeholder 2">
            <a:extLst>
              <a:ext uri="{FF2B5EF4-FFF2-40B4-BE49-F238E27FC236}">
                <a16:creationId xmlns:a16="http://schemas.microsoft.com/office/drawing/2014/main" id="{EF6346DE-75A4-2D3A-A4FA-7BE19AEA16C6}"/>
              </a:ext>
            </a:extLst>
          </p:cNvPr>
          <p:cNvSpPr>
            <a:spLocks noGrp="1"/>
          </p:cNvSpPr>
          <p:nvPr>
            <p:ph idx="1"/>
          </p:nvPr>
        </p:nvSpPr>
        <p:spPr>
          <a:xfrm>
            <a:off x="581192" y="1632156"/>
            <a:ext cx="11029615" cy="4226644"/>
          </a:xfrm>
        </p:spPr>
        <p:txBody>
          <a:bodyPr/>
          <a:lstStyle/>
          <a:p>
            <a:r>
              <a:rPr lang="en-IN" dirty="0"/>
              <a:t>Unimodal models currently outperform multimodal ones in adoption.</a:t>
            </a:r>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pic>
        <p:nvPicPr>
          <p:cNvPr id="5" name="Picture 4">
            <a:extLst>
              <a:ext uri="{FF2B5EF4-FFF2-40B4-BE49-F238E27FC236}">
                <a16:creationId xmlns:a16="http://schemas.microsoft.com/office/drawing/2014/main" id="{1D1A3817-6BB1-19B1-FE7A-BDB6AE87F9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9941" y="2645956"/>
            <a:ext cx="5561671" cy="4096520"/>
          </a:xfrm>
          <a:prstGeom prst="rect">
            <a:avLst/>
          </a:prstGeom>
        </p:spPr>
      </p:pic>
    </p:spTree>
    <p:extLst>
      <p:ext uri="{BB962C8B-B14F-4D97-AF65-F5344CB8AC3E}">
        <p14:creationId xmlns:p14="http://schemas.microsoft.com/office/powerpoint/2010/main" val="3596798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D53BD-47F9-B0FC-77A8-4C85CB2E2D54}"/>
              </a:ext>
            </a:extLst>
          </p:cNvPr>
          <p:cNvSpPr>
            <a:spLocks noGrp="1"/>
          </p:cNvSpPr>
          <p:nvPr>
            <p:ph type="title"/>
          </p:nvPr>
        </p:nvSpPr>
        <p:spPr/>
        <p:txBody>
          <a:bodyPr/>
          <a:lstStyle/>
          <a:p>
            <a:r>
              <a:rPr lang="en-IN" dirty="0"/>
              <a:t>TEAM SIZE IMPACT</a:t>
            </a:r>
          </a:p>
        </p:txBody>
      </p:sp>
      <p:sp>
        <p:nvSpPr>
          <p:cNvPr id="3" name="Content Placeholder 2">
            <a:extLst>
              <a:ext uri="{FF2B5EF4-FFF2-40B4-BE49-F238E27FC236}">
                <a16:creationId xmlns:a16="http://schemas.microsoft.com/office/drawing/2014/main" id="{72B0C1DB-556F-C72A-9C50-F450D20ED5D1}"/>
              </a:ext>
            </a:extLst>
          </p:cNvPr>
          <p:cNvSpPr>
            <a:spLocks noGrp="1"/>
          </p:cNvSpPr>
          <p:nvPr>
            <p:ph idx="1"/>
          </p:nvPr>
        </p:nvSpPr>
        <p:spPr>
          <a:xfrm>
            <a:off x="581192" y="1762280"/>
            <a:ext cx="11029615" cy="4096519"/>
          </a:xfrm>
        </p:spPr>
        <p:txBody>
          <a:bodyPr/>
          <a:lstStyle/>
          <a:p>
            <a:r>
              <a:rPr lang="en-IN" dirty="0"/>
              <a:t>Downloads show weak correlation with annotator count.</a:t>
            </a:r>
          </a:p>
          <a:p>
            <a:endParaRPr lang="en-IN" dirty="0"/>
          </a:p>
          <a:p>
            <a:endParaRPr lang="en-IN" dirty="0"/>
          </a:p>
          <a:p>
            <a:endParaRPr lang="en-IN" dirty="0"/>
          </a:p>
          <a:p>
            <a:endParaRPr lang="en-IN" dirty="0"/>
          </a:p>
          <a:p>
            <a:endParaRPr lang="en-IN" dirty="0"/>
          </a:p>
          <a:p>
            <a:pPr marL="0" indent="0">
              <a:buNone/>
            </a:pPr>
            <a:endParaRPr lang="en-IN" dirty="0"/>
          </a:p>
          <a:p>
            <a:endParaRPr lang="en-IN" dirty="0"/>
          </a:p>
        </p:txBody>
      </p:sp>
      <p:pic>
        <p:nvPicPr>
          <p:cNvPr id="5" name="Picture 4">
            <a:extLst>
              <a:ext uri="{FF2B5EF4-FFF2-40B4-BE49-F238E27FC236}">
                <a16:creationId xmlns:a16="http://schemas.microsoft.com/office/drawing/2014/main" id="{58717B29-A665-3B5B-9638-9845AFDAE6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3735" y="2631203"/>
            <a:ext cx="5184658" cy="4096520"/>
          </a:xfrm>
          <a:prstGeom prst="rect">
            <a:avLst/>
          </a:prstGeom>
        </p:spPr>
      </p:pic>
    </p:spTree>
    <p:extLst>
      <p:ext uri="{BB962C8B-B14F-4D97-AF65-F5344CB8AC3E}">
        <p14:creationId xmlns:p14="http://schemas.microsoft.com/office/powerpoint/2010/main" val="2324872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ADAD0-21CE-468E-9C25-F48126FD5DD3}"/>
              </a:ext>
            </a:extLst>
          </p:cNvPr>
          <p:cNvSpPr>
            <a:spLocks noGrp="1"/>
          </p:cNvSpPr>
          <p:nvPr>
            <p:ph type="title"/>
          </p:nvPr>
        </p:nvSpPr>
        <p:spPr/>
        <p:txBody>
          <a:bodyPr/>
          <a:lstStyle/>
          <a:p>
            <a:r>
              <a:rPr lang="en-IN" dirty="0"/>
              <a:t>GROWTH STAGE PERFORMANCE</a:t>
            </a:r>
          </a:p>
        </p:txBody>
      </p:sp>
      <p:sp>
        <p:nvSpPr>
          <p:cNvPr id="3" name="Content Placeholder 2">
            <a:extLst>
              <a:ext uri="{FF2B5EF4-FFF2-40B4-BE49-F238E27FC236}">
                <a16:creationId xmlns:a16="http://schemas.microsoft.com/office/drawing/2014/main" id="{1194AE36-73EB-E470-3F40-0C658BCDEA19}"/>
              </a:ext>
            </a:extLst>
          </p:cNvPr>
          <p:cNvSpPr>
            <a:spLocks noGrp="1"/>
          </p:cNvSpPr>
          <p:nvPr>
            <p:ph idx="1"/>
          </p:nvPr>
        </p:nvSpPr>
        <p:spPr>
          <a:xfrm>
            <a:off x="581193" y="1986116"/>
            <a:ext cx="6488202" cy="3872683"/>
          </a:xfrm>
        </p:spPr>
        <p:txBody>
          <a:bodyPr>
            <a:normAutofit fontScale="92500" lnSpcReduction="20000"/>
          </a:bodyPr>
          <a:lstStyle/>
          <a:p>
            <a:endParaRPr lang="en-IN" dirty="0"/>
          </a:p>
          <a:p>
            <a:endParaRPr lang="en-US" dirty="0"/>
          </a:p>
          <a:p>
            <a:endParaRPr lang="en-US" dirty="0"/>
          </a:p>
          <a:p>
            <a:endParaRPr lang="en-US" dirty="0"/>
          </a:p>
          <a:p>
            <a:endParaRPr lang="en-US" dirty="0"/>
          </a:p>
          <a:p>
            <a:endParaRPr lang="en-US" dirty="0"/>
          </a:p>
          <a:p>
            <a:r>
              <a:rPr lang="en-US" dirty="0"/>
              <a:t>Launch Stage Shows Highest Volatility.</a:t>
            </a:r>
          </a:p>
          <a:p>
            <a:r>
              <a:rPr lang="en-IN" dirty="0"/>
              <a:t>Early Growth stage models show strongest weekly momentum.</a:t>
            </a:r>
          </a:p>
          <a:p>
            <a:r>
              <a:rPr lang="en-IN" dirty="0"/>
              <a:t>Mature Models Provide Stability.</a:t>
            </a:r>
          </a:p>
          <a:p>
            <a:r>
              <a:rPr lang="en-US" dirty="0"/>
              <a:t>Growth Stage Maintains Balanced Performance.</a:t>
            </a:r>
          </a:p>
          <a:p>
            <a:r>
              <a:rPr lang="en-US" dirty="0"/>
              <a:t>Old Models Show Declining or Low Activity.</a:t>
            </a:r>
            <a:endParaRPr lang="en-IN" dirty="0"/>
          </a:p>
          <a:p>
            <a:pPr marL="0" indent="0">
              <a:buNone/>
            </a:pPr>
            <a:endParaRPr lang="en-IN" dirty="0"/>
          </a:p>
          <a:p>
            <a:pPr marL="0" indent="0">
              <a:buNone/>
            </a:pPr>
            <a:endParaRPr lang="en-IN" dirty="0"/>
          </a:p>
          <a:p>
            <a:endParaRPr lang="en-IN" dirty="0"/>
          </a:p>
          <a:p>
            <a:endParaRPr lang="en-IN" dirty="0"/>
          </a:p>
          <a:p>
            <a:endParaRPr lang="en-IN" dirty="0"/>
          </a:p>
          <a:p>
            <a:endParaRPr lang="en-IN" dirty="0"/>
          </a:p>
          <a:p>
            <a:endParaRPr lang="en-IN" dirty="0"/>
          </a:p>
          <a:p>
            <a:endParaRPr lang="en-IN" dirty="0"/>
          </a:p>
        </p:txBody>
      </p:sp>
      <p:pic>
        <p:nvPicPr>
          <p:cNvPr id="5" name="Picture 4">
            <a:extLst>
              <a:ext uri="{FF2B5EF4-FFF2-40B4-BE49-F238E27FC236}">
                <a16:creationId xmlns:a16="http://schemas.microsoft.com/office/drawing/2014/main" id="{9F77D990-FC44-2459-91CE-B02E79DA08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8342" y="2277592"/>
            <a:ext cx="4532465" cy="3581207"/>
          </a:xfrm>
          <a:prstGeom prst="rect">
            <a:avLst/>
          </a:prstGeom>
        </p:spPr>
      </p:pic>
    </p:spTree>
    <p:extLst>
      <p:ext uri="{BB962C8B-B14F-4D97-AF65-F5344CB8AC3E}">
        <p14:creationId xmlns:p14="http://schemas.microsoft.com/office/powerpoint/2010/main" val="20820373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E4C39-C0E7-B237-EC13-AEECA49B11D2}"/>
              </a:ext>
            </a:extLst>
          </p:cNvPr>
          <p:cNvSpPr>
            <a:spLocks noGrp="1"/>
          </p:cNvSpPr>
          <p:nvPr>
            <p:ph type="title"/>
          </p:nvPr>
        </p:nvSpPr>
        <p:spPr/>
        <p:txBody>
          <a:bodyPr/>
          <a:lstStyle/>
          <a:p>
            <a:r>
              <a:rPr lang="en-IN" dirty="0"/>
              <a:t>Monthly DOWNLOADS</a:t>
            </a:r>
          </a:p>
        </p:txBody>
      </p:sp>
      <p:sp>
        <p:nvSpPr>
          <p:cNvPr id="3" name="Content Placeholder 2">
            <a:extLst>
              <a:ext uri="{FF2B5EF4-FFF2-40B4-BE49-F238E27FC236}">
                <a16:creationId xmlns:a16="http://schemas.microsoft.com/office/drawing/2014/main" id="{DF691B7C-F81B-D51B-9C14-542D4CC5A621}"/>
              </a:ext>
            </a:extLst>
          </p:cNvPr>
          <p:cNvSpPr>
            <a:spLocks noGrp="1"/>
          </p:cNvSpPr>
          <p:nvPr>
            <p:ph idx="1"/>
          </p:nvPr>
        </p:nvSpPr>
        <p:spPr>
          <a:xfrm>
            <a:off x="581192" y="1553498"/>
            <a:ext cx="11029615" cy="4305302"/>
          </a:xfrm>
        </p:spPr>
        <p:txBody>
          <a:bodyPr/>
          <a:lstStyle/>
          <a:p>
            <a:r>
              <a:rPr lang="en-IN" dirty="0"/>
              <a:t>Growth spikes occur during specific ecosystem surge periods</a:t>
            </a:r>
          </a:p>
          <a:p>
            <a:endParaRPr lang="en-IN" dirty="0"/>
          </a:p>
          <a:p>
            <a:endParaRPr lang="en-IN" dirty="0"/>
          </a:p>
          <a:p>
            <a:endParaRPr lang="en-IN" dirty="0"/>
          </a:p>
          <a:p>
            <a:endParaRPr lang="en-IN" dirty="0"/>
          </a:p>
          <a:p>
            <a:endParaRPr lang="en-IN" dirty="0"/>
          </a:p>
          <a:p>
            <a:endParaRPr lang="en-IN" dirty="0"/>
          </a:p>
          <a:p>
            <a:endParaRPr lang="en-IN" dirty="0"/>
          </a:p>
        </p:txBody>
      </p:sp>
      <p:pic>
        <p:nvPicPr>
          <p:cNvPr id="5" name="Picture 4">
            <a:extLst>
              <a:ext uri="{FF2B5EF4-FFF2-40B4-BE49-F238E27FC236}">
                <a16:creationId xmlns:a16="http://schemas.microsoft.com/office/drawing/2014/main" id="{B3468537-A3E0-CCC7-4BB0-6B87FBF893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2025" y="2671076"/>
            <a:ext cx="5919020" cy="3941514"/>
          </a:xfrm>
          <a:prstGeom prst="rect">
            <a:avLst/>
          </a:prstGeom>
        </p:spPr>
      </p:pic>
    </p:spTree>
    <p:extLst>
      <p:ext uri="{BB962C8B-B14F-4D97-AF65-F5344CB8AC3E}">
        <p14:creationId xmlns:p14="http://schemas.microsoft.com/office/powerpoint/2010/main" val="498105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DDB00-DE93-3FAA-0CB9-CE18BEEBDE9B}"/>
              </a:ext>
            </a:extLst>
          </p:cNvPr>
          <p:cNvSpPr>
            <a:spLocks noGrp="1"/>
          </p:cNvSpPr>
          <p:nvPr>
            <p:ph type="title"/>
          </p:nvPr>
        </p:nvSpPr>
        <p:spPr/>
        <p:txBody>
          <a:bodyPr/>
          <a:lstStyle/>
          <a:p>
            <a:r>
              <a:rPr lang="en-IN" dirty="0"/>
              <a:t>BEST PERFORMING MODELS</a:t>
            </a:r>
          </a:p>
        </p:txBody>
      </p:sp>
      <p:sp>
        <p:nvSpPr>
          <p:cNvPr id="3" name="Content Placeholder 2">
            <a:extLst>
              <a:ext uri="{FF2B5EF4-FFF2-40B4-BE49-F238E27FC236}">
                <a16:creationId xmlns:a16="http://schemas.microsoft.com/office/drawing/2014/main" id="{6329CA77-2D6A-FCDA-FEB6-88295412A1E8}"/>
              </a:ext>
            </a:extLst>
          </p:cNvPr>
          <p:cNvSpPr>
            <a:spLocks noGrp="1"/>
          </p:cNvSpPr>
          <p:nvPr>
            <p:ph idx="1"/>
          </p:nvPr>
        </p:nvSpPr>
        <p:spPr/>
        <p:txBody>
          <a:bodyPr/>
          <a:lstStyle/>
          <a:p>
            <a:r>
              <a:rPr lang="en-IN" dirty="0"/>
              <a:t>TOP 5 BEST PERFORMING MODELS</a:t>
            </a:r>
          </a:p>
          <a:p>
            <a:endParaRPr lang="en-IN" dirty="0"/>
          </a:p>
          <a:p>
            <a:endParaRPr lang="en-IN" dirty="0"/>
          </a:p>
          <a:p>
            <a:endParaRPr lang="en-IN" dirty="0"/>
          </a:p>
          <a:p>
            <a:endParaRPr lang="en-IN" dirty="0"/>
          </a:p>
          <a:p>
            <a:endParaRPr lang="en-IN" dirty="0"/>
          </a:p>
          <a:p>
            <a:endParaRPr lang="en-IN" dirty="0"/>
          </a:p>
          <a:p>
            <a:endParaRPr lang="en-IN" dirty="0"/>
          </a:p>
        </p:txBody>
      </p:sp>
      <p:pic>
        <p:nvPicPr>
          <p:cNvPr id="5" name="Content Placeholder 4">
            <a:extLst>
              <a:ext uri="{FF2B5EF4-FFF2-40B4-BE49-F238E27FC236}">
                <a16:creationId xmlns:a16="http://schemas.microsoft.com/office/drawing/2014/main" id="{AE78C4D9-739A-1140-A965-2C8033F152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8452" y="2829425"/>
            <a:ext cx="6327635" cy="3678238"/>
          </a:xfrm>
          <a:prstGeom prst="rect">
            <a:avLst/>
          </a:prstGeom>
        </p:spPr>
      </p:pic>
    </p:spTree>
    <p:extLst>
      <p:ext uri="{BB962C8B-B14F-4D97-AF65-F5344CB8AC3E}">
        <p14:creationId xmlns:p14="http://schemas.microsoft.com/office/powerpoint/2010/main" val="520163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B37FA-5769-C54E-2545-2F9A52DAB717}"/>
              </a:ext>
            </a:extLst>
          </p:cNvPr>
          <p:cNvSpPr>
            <a:spLocks noGrp="1"/>
          </p:cNvSpPr>
          <p:nvPr>
            <p:ph type="title"/>
          </p:nvPr>
        </p:nvSpPr>
        <p:spPr/>
        <p:txBody>
          <a:bodyPr/>
          <a:lstStyle/>
          <a:p>
            <a:r>
              <a:rPr lang="en-IN" dirty="0"/>
              <a:t>BEST PERFORMING MODEL</a:t>
            </a:r>
          </a:p>
        </p:txBody>
      </p:sp>
      <p:pic>
        <p:nvPicPr>
          <p:cNvPr id="9" name="Content Placeholder 8">
            <a:extLst>
              <a:ext uri="{FF2B5EF4-FFF2-40B4-BE49-F238E27FC236}">
                <a16:creationId xmlns:a16="http://schemas.microsoft.com/office/drawing/2014/main" id="{216E60FC-7AD7-ADEA-5B78-69612DF123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9180" y="2335134"/>
            <a:ext cx="11029950" cy="3508069"/>
          </a:xfrm>
        </p:spPr>
      </p:pic>
    </p:spTree>
    <p:extLst>
      <p:ext uri="{BB962C8B-B14F-4D97-AF65-F5344CB8AC3E}">
        <p14:creationId xmlns:p14="http://schemas.microsoft.com/office/powerpoint/2010/main" val="2075292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51C1C-DF53-90A6-E0C6-1488E99481B7}"/>
              </a:ext>
            </a:extLst>
          </p:cNvPr>
          <p:cNvSpPr>
            <a:spLocks noGrp="1"/>
          </p:cNvSpPr>
          <p:nvPr>
            <p:ph type="title"/>
          </p:nvPr>
        </p:nvSpPr>
        <p:spPr/>
        <p:txBody>
          <a:bodyPr/>
          <a:lstStyle/>
          <a:p>
            <a:r>
              <a:rPr lang="en-IN" dirty="0"/>
              <a:t>DECISION MAKING RECOMMENDATIONS</a:t>
            </a:r>
          </a:p>
        </p:txBody>
      </p:sp>
      <p:sp>
        <p:nvSpPr>
          <p:cNvPr id="3" name="Content Placeholder 2">
            <a:extLst>
              <a:ext uri="{FF2B5EF4-FFF2-40B4-BE49-F238E27FC236}">
                <a16:creationId xmlns:a16="http://schemas.microsoft.com/office/drawing/2014/main" id="{2F691656-A918-AA48-578E-7DA7F3A91375}"/>
              </a:ext>
            </a:extLst>
          </p:cNvPr>
          <p:cNvSpPr>
            <a:spLocks noGrp="1"/>
          </p:cNvSpPr>
          <p:nvPr>
            <p:ph idx="1"/>
          </p:nvPr>
        </p:nvSpPr>
        <p:spPr>
          <a:xfrm>
            <a:off x="669682" y="2219825"/>
            <a:ext cx="11029615" cy="3678303"/>
          </a:xfrm>
        </p:spPr>
        <p:txBody>
          <a:bodyPr/>
          <a:lstStyle/>
          <a:p>
            <a:r>
              <a:rPr lang="en-US" dirty="0"/>
              <a:t>Build for Breakout Potential : In a winner-takes-all ecosystem, strategic concentration beats diversification.</a:t>
            </a:r>
          </a:p>
          <a:p>
            <a:r>
              <a:rPr lang="en-IN" dirty="0"/>
              <a:t>Strengthen Institutional Backing : </a:t>
            </a:r>
            <a:r>
              <a:rPr lang="en-US" dirty="0"/>
              <a:t>Organizational support significantly increases adoption probability.</a:t>
            </a:r>
            <a:endParaRPr lang="en-IN" dirty="0"/>
          </a:p>
          <a:p>
            <a:r>
              <a:rPr lang="en-IN" dirty="0"/>
              <a:t>Target High-Performance Regions : </a:t>
            </a:r>
            <a:r>
              <a:rPr lang="en-US" dirty="0"/>
              <a:t>Geographic ecosystem maturity strongly impacts adoption success.</a:t>
            </a:r>
          </a:p>
          <a:p>
            <a:r>
              <a:rPr lang="en-IN" dirty="0"/>
              <a:t>Prioritize Unimodal Excellence </a:t>
            </a:r>
            <a:r>
              <a:rPr lang="en-US" dirty="0"/>
              <a:t>: Adoption favors simplicity and specialization over complexity.</a:t>
            </a:r>
          </a:p>
          <a:p>
            <a:r>
              <a:rPr lang="en-US" dirty="0"/>
              <a:t>Capitalize on Early Growth Momentum : Early-stage acceleration is critical for long-term dominance.</a:t>
            </a:r>
          </a:p>
          <a:p>
            <a:r>
              <a:rPr lang="en-IN" dirty="0"/>
              <a:t>Leverage Ecosystem Surge Periods</a:t>
            </a:r>
            <a:r>
              <a:rPr lang="en-US" dirty="0"/>
              <a:t> : Timing within ecosystem cycles significantly amplifies adoption.</a:t>
            </a:r>
            <a:endParaRPr lang="en-IN" dirty="0"/>
          </a:p>
        </p:txBody>
      </p:sp>
    </p:spTree>
    <p:extLst>
      <p:ext uri="{BB962C8B-B14F-4D97-AF65-F5344CB8AC3E}">
        <p14:creationId xmlns:p14="http://schemas.microsoft.com/office/powerpoint/2010/main" val="25070033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B7CA0-51DF-FCE4-BDD7-CB0CC7B29433}"/>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7841313E-6684-65E1-240C-9083004CEC89}"/>
              </a:ext>
            </a:extLst>
          </p:cNvPr>
          <p:cNvSpPr>
            <a:spLocks noGrp="1"/>
          </p:cNvSpPr>
          <p:nvPr>
            <p:ph idx="1"/>
          </p:nvPr>
        </p:nvSpPr>
        <p:spPr/>
        <p:txBody>
          <a:bodyPr/>
          <a:lstStyle/>
          <a:p>
            <a:r>
              <a:rPr lang="en-US" dirty="0"/>
              <a:t>The ecosystem is highly concentrated, performance-driven, and organization-influenced. Structural features alone do not determine success; instead, organizational backing, base-model quality, and early growth momentum play critical roles in sustained adoption.</a:t>
            </a:r>
          </a:p>
          <a:p>
            <a:r>
              <a:rPr lang="en-US" dirty="0"/>
              <a:t>This project provides a data-driven understanding of how open-source AI models evolve, scale, and compete within a rapidly expanding ecosystem.</a:t>
            </a:r>
          </a:p>
          <a:p>
            <a:pPr marL="0" indent="0">
              <a:buNone/>
            </a:pPr>
            <a:endParaRPr lang="en-IN" dirty="0"/>
          </a:p>
        </p:txBody>
      </p:sp>
    </p:spTree>
    <p:extLst>
      <p:ext uri="{BB962C8B-B14F-4D97-AF65-F5344CB8AC3E}">
        <p14:creationId xmlns:p14="http://schemas.microsoft.com/office/powerpoint/2010/main" val="5136690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6482B63-AA9A-2320-0614-1E02CF651A0B}"/>
              </a:ext>
            </a:extLst>
          </p:cNvPr>
          <p:cNvSpPr>
            <a:spLocks noGrp="1"/>
          </p:cNvSpPr>
          <p:nvPr>
            <p:ph type="title"/>
          </p:nvPr>
        </p:nvSpPr>
        <p:spPr/>
        <p:txBody>
          <a:bodyPr>
            <a:normAutofit fontScale="90000"/>
          </a:bodyPr>
          <a:lstStyle/>
          <a:p>
            <a:r>
              <a:rPr lang="en-IN" dirty="0"/>
              <a:t>TRENDS IN OPEN SOURCE AI MODELS – HUGGING FACE</a:t>
            </a:r>
          </a:p>
        </p:txBody>
      </p:sp>
      <p:sp>
        <p:nvSpPr>
          <p:cNvPr id="3" name="Content Placeholder 2">
            <a:extLst>
              <a:ext uri="{FF2B5EF4-FFF2-40B4-BE49-F238E27FC236}">
                <a16:creationId xmlns:a16="http://schemas.microsoft.com/office/drawing/2014/main" id="{B7419202-230B-0194-E61C-CA33AB2939FD}"/>
              </a:ext>
            </a:extLst>
          </p:cNvPr>
          <p:cNvSpPr>
            <a:spLocks noGrp="1"/>
          </p:cNvSpPr>
          <p:nvPr>
            <p:ph idx="1"/>
          </p:nvPr>
        </p:nvSpPr>
        <p:spPr/>
        <p:txBody>
          <a:bodyPr>
            <a:normAutofit/>
          </a:bodyPr>
          <a:lstStyle/>
          <a:p>
            <a:pPr marL="0" indent="0" algn="ctr">
              <a:buNone/>
            </a:pPr>
            <a:r>
              <a:rPr lang="en-IN" sz="3600" dirty="0"/>
              <a:t>THANK YOU</a:t>
            </a:r>
          </a:p>
        </p:txBody>
      </p:sp>
      <p:sp>
        <p:nvSpPr>
          <p:cNvPr id="6" name="Text Placeholder 5">
            <a:extLst>
              <a:ext uri="{FF2B5EF4-FFF2-40B4-BE49-F238E27FC236}">
                <a16:creationId xmlns:a16="http://schemas.microsoft.com/office/drawing/2014/main" id="{587A0380-A5A8-5808-A273-4F8062A0601D}"/>
              </a:ext>
            </a:extLst>
          </p:cNvPr>
          <p:cNvSpPr>
            <a:spLocks noGrp="1"/>
          </p:cNvSpPr>
          <p:nvPr>
            <p:ph type="body" sz="half" idx="2"/>
          </p:nvPr>
        </p:nvSpPr>
        <p:spPr/>
        <p:txBody>
          <a:bodyPr/>
          <a:lstStyle/>
          <a:p>
            <a:r>
              <a:rPr lang="en-IN" dirty="0"/>
              <a:t>SHALINI K</a:t>
            </a:r>
          </a:p>
        </p:txBody>
      </p:sp>
    </p:spTree>
    <p:extLst>
      <p:ext uri="{BB962C8B-B14F-4D97-AF65-F5344CB8AC3E}">
        <p14:creationId xmlns:p14="http://schemas.microsoft.com/office/powerpoint/2010/main" val="978030700"/>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TM03457464[[fn=Dividend]]</Template>
  <TotalTime>293</TotalTime>
  <Words>626</Words>
  <Application>Microsoft Office PowerPoint</Application>
  <PresentationFormat>Widescreen</PresentationFormat>
  <Paragraphs>114</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Gill Sans MT</vt:lpstr>
      <vt:lpstr>Wingdings 2</vt:lpstr>
      <vt:lpstr>Dividend</vt:lpstr>
      <vt:lpstr>TRENDS IN OPEN SOURCE AI MODELS (2025-2026)</vt:lpstr>
      <vt:lpstr>INTRODUCTION</vt:lpstr>
      <vt:lpstr>Problem statement</vt:lpstr>
      <vt:lpstr>DATASET BREAKDOWN</vt:lpstr>
      <vt:lpstr>DATASET BREAKDOWN</vt:lpstr>
      <vt:lpstr>OBJECTIVE</vt:lpstr>
      <vt:lpstr>KEY FINDINGS</vt:lpstr>
      <vt:lpstr>Organization impact</vt:lpstr>
      <vt:lpstr>Geographical Impact</vt:lpstr>
      <vt:lpstr>MODALITY IMPACT</vt:lpstr>
      <vt:lpstr>TEAM SIZE IMPACT</vt:lpstr>
      <vt:lpstr>GROWTH STAGE PERFORMANCE</vt:lpstr>
      <vt:lpstr>Monthly DOWNLOADS</vt:lpstr>
      <vt:lpstr>BEST PERFORMING MODELS</vt:lpstr>
      <vt:lpstr>BEST PERFORMING MODEL</vt:lpstr>
      <vt:lpstr>DECISION MAKING RECOMMENDATIONS</vt:lpstr>
      <vt:lpstr>Conclusion</vt:lpstr>
      <vt:lpstr>TRENDS IN OPEN SOURCE AI MODELS – HUGGING FACE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 Shalini</dc:creator>
  <cp:lastModifiedBy>Ashwin Shalini</cp:lastModifiedBy>
  <cp:revision>3</cp:revision>
  <dcterms:created xsi:type="dcterms:W3CDTF">2026-02-27T05:01:46Z</dcterms:created>
  <dcterms:modified xsi:type="dcterms:W3CDTF">2026-02-27T09:55:08Z</dcterms:modified>
</cp:coreProperties>
</file>